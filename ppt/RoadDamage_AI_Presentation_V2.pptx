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0545775" cy="50292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WEEK 3 ASSIGNMENT • COMPUTER VISION &amp; MACHINE LEARNING</a:t>
            </a:r>
          </a:p>
          <a:p>
            <a:pPr>
              <a:defRPr sz="4400" b="1">
                <a:solidFill>
                  <a:srgbClr val="F9FAFB"/>
                </a:solidFill>
              </a:defRPr>
            </a:pPr>
            <a:r>
              <a:t>RoadDamage_AI</a:t>
            </a:r>
          </a:p>
          <a:p>
            <a:pPr>
              <a:spcAft>
                <a:spcPts val="1400"/>
              </a:spcAft>
              <a:defRPr sz="2000">
                <a:solidFill>
                  <a:srgbClr val="9CA3AF"/>
                </a:solidFill>
              </a:defRPr>
            </a:pPr>
            <a:r>
              <a:t>Sistem Cerdas Deteksi Kerusakan Jalan Raya Berbasis YOLOv8n</a:t>
            </a:r>
          </a:p>
          <a:p>
            <a:pPr>
              <a:defRPr sz="1300">
                <a:solidFill>
                  <a:srgbClr val="D1D5DB"/>
                </a:solidFill>
              </a:defRPr>
            </a:pPr>
            <a:r>
              <a:t>• Tim Pengembang : Kelompok Road Damage</a:t>
            </a:r>
            <a:br/>
            <a:r>
              <a:t>• Arsitektur AI   : YOLOv8n (Transfer Learning Pretrained MS COCO)</a:t>
            </a:r>
            <a:br/>
            <a:r>
              <a:t>• Tech Stack      : Python • PyTorch • Ultralytics • FastAPI • React 18 + Vite</a:t>
            </a:r>
            <a:br/>
            <a:r>
              <a:t>• Dataset         : 2,009 Citra Beresolusi 640x360 px (Pothole, Crack, Manhole)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ROADDAMAGE_AI • COMPUTER VISION &amp; MACHINE LEARNING</a:t>
            </a:r>
          </a:p>
          <a:p>
            <a:pPr>
              <a:defRPr sz="2300" b="1">
                <a:solidFill>
                  <a:srgbClr val="F9FAFB"/>
                </a:solidFill>
              </a:defRPr>
            </a:pPr>
            <a:r>
              <a:t>Latar Belakang &amp; Urgensi Masalah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</a:defRPr>
            </a:pPr>
            <a:r>
              <a:t>Tantangan Masalah (Problem)</a:t>
            </a:r>
          </a:p>
          <a:p>
            <a:pPr>
              <a:spcAft>
                <a:spcPts val="800"/>
              </a:spcAft>
              <a:defRPr sz="1150">
                <a:solidFill>
                  <a:srgbClr val="E5E7EB"/>
                </a:solidFill>
              </a:defRPr>
            </a:pPr>
            <a:r>
              <a:t>• Bahaya Keselamatan: Lubang jalan (pothole) dan retakan aspal parah (crack) merupakan pemicu utama kecelakaan lalu lintas dan kerusakan suspensi kendaraan.</a:t>
            </a:r>
          </a:p>
          <a:p>
            <a:pPr>
              <a:spcAft>
                <a:spcPts val="800"/>
              </a:spcAft>
              <a:defRPr sz="1150">
                <a:solidFill>
                  <a:srgbClr val="E5E7EB"/>
                </a:solidFill>
              </a:defRPr>
            </a:pPr>
            <a:r>
              <a:t>• Inspeksi Manual Tidak Efisien: Survei jalan konvensional mengandalkan laporan manual petugas di lapangan yang lambat, berbiaya tinggi, dan membahayakan keselamatan.</a:t>
            </a:r>
          </a:p>
          <a:p>
            <a:pPr>
              <a:spcAft>
                <a:spcPts val="800"/>
              </a:spcAft>
              <a:defRPr sz="1150">
                <a:solidFill>
                  <a:srgbClr val="E5E7EB"/>
                </a:solidFill>
              </a:defRPr>
            </a:pPr>
            <a:r>
              <a:t>• Kebutuhan Deteksi Real-Time: Dibutuhkan solusi otomatisasi Computer Vision yang dapat dipasang pada kamera kendaraan (dashcam) untuk mendeteksi anomali jalan seketika.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Solusi yang Diterapkan (Solution)</a:t>
            </a:r>
          </a:p>
          <a:p>
            <a:pPr>
              <a:spcAft>
                <a:spcPts val="800"/>
              </a:spcAft>
              <a:defRPr sz="1150">
                <a:solidFill>
                  <a:srgbClr val="E5E7EB"/>
                </a:solidFill>
              </a:defRPr>
            </a:pPr>
            <a:r>
              <a:t>• Model Ringan YOLOv8n: Memanfaatkan model YOLOv8 Nano (~3.2 Juta parameter) yang hemat komputasi dan mampu mencapai throughput &gt;60 FPS.</a:t>
            </a:r>
          </a:p>
          <a:p>
            <a:pPr>
              <a:spcAft>
                <a:spcPts val="800"/>
              </a:spcAft>
              <a:defRPr sz="1150">
                <a:solidFill>
                  <a:srgbClr val="E5E7EB"/>
                </a:solidFill>
              </a:defRPr>
            </a:pPr>
            <a:r>
              <a:t>• Klasifikasi 3 Kategori Spesifik: Mendeteksi secara simultan: Lubang (Pothole), Retakan (Crack), dan Penutup Got (Manhole).</a:t>
            </a:r>
          </a:p>
          <a:p>
            <a:pPr>
              <a:spcAft>
                <a:spcPts val="800"/>
              </a:spcAft>
              <a:defRPr sz="1150">
                <a:solidFill>
                  <a:srgbClr val="E5E7EB"/>
                </a:solidFill>
              </a:defRPr>
            </a:pPr>
            <a:r>
              <a:t>• Integrasi End-to-End Teruji: Ekosistem lengkap dari 7 Jupyter Notebooks terverifikasi, REST API FastAPI, hingga Web Dashboard interaktif (React + Vite).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ROADDAMAGE_AI • COMPUTER VISION &amp; MACHINE LEARNING</a:t>
            </a:r>
          </a:p>
          <a:p>
            <a:pPr>
              <a:defRPr sz="2300" b="1">
                <a:solidFill>
                  <a:srgbClr val="F9FAFB"/>
                </a:solidFill>
              </a:defRPr>
            </a:pPr>
            <a:r>
              <a:t>Dataset Overview &amp; Metadata Spesifikasi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TOTAL CITRA</a:t>
            </a:r>
          </a:p>
          <a:p>
            <a:pPr>
              <a:spcAft>
                <a:spcPts val="1000"/>
              </a:spcAft>
              <a:defRPr sz="2800" b="1">
                <a:solidFill>
                  <a:srgbClr val="F9FAFB"/>
                </a:solidFill>
              </a:defRPr>
            </a:pPr>
            <a:r>
              <a:t>2,009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Citra jalan raya berformat .jpg tanpa ada data yang hilang atau rusak.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TOTAL OBJEK ANOTASI</a:t>
            </a:r>
          </a:p>
          <a:p>
            <a:pPr>
              <a:spcAft>
                <a:spcPts val="1000"/>
              </a:spcAft>
              <a:defRPr sz="2800" b="1">
                <a:solidFill>
                  <a:srgbClr val="F9FAFB"/>
                </a:solidFill>
              </a:defRPr>
            </a:pPr>
            <a:r>
              <a:t>4,737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Bounding box berlabel dalam format standar YOLO normalized [0.0 - 1.0].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RESOLUSI CITRA</a:t>
            </a:r>
          </a:p>
          <a:p>
            <a:pPr>
              <a:spcAft>
                <a:spcPts val="1000"/>
              </a:spcAft>
              <a:defRPr sz="2800" b="1">
                <a:solidFill>
                  <a:srgbClr val="F9FAFB"/>
                </a:solidFill>
              </a:defRPr>
            </a:pPr>
            <a:r>
              <a:t>640 x 360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Sudut pandang vehicle camera (dashcam) dengan rasio aspek 16:9.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KATEGORI KERUSAKAN</a:t>
            </a:r>
          </a:p>
          <a:p>
            <a:pPr>
              <a:spcAft>
                <a:spcPts val="1000"/>
              </a:spcAft>
              <a:defRPr sz="2800" b="1">
                <a:solidFill>
                  <a:srgbClr val="F9FAFB"/>
                </a:solidFill>
              </a:defRPr>
            </a:pPr>
            <a:r>
              <a:t>3 Kategori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Class 0: Pothole | Class 1: Crack | Class 2: Manhole.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ANALISIS GAMBAR 1 • 01_EDA.IPYNB</a:t>
            </a:r>
          </a:p>
          <a:p>
            <a:pPr>
              <a:defRPr sz="2300" b="1">
                <a:solidFill>
                  <a:srgbClr val="F9FAFB"/>
                </a:solidFill>
              </a:defRPr>
            </a:pPr>
            <a:r>
              <a:t>Gambar 1: Distribusi Kelas &amp; Fenomena Class Imbalance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21792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d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5943600" cy="26547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371600"/>
            <a:ext cx="429768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Penjelasan Detail Gambar 1:</a:t>
            </a:r>
          </a:p>
          <a:p>
            <a:pPr>
              <a:spcAft>
                <a:spcPts val="400"/>
              </a:spcAft>
              <a:defRPr sz="1050">
                <a:solidFill>
                  <a:srgbClr val="F9FAFB"/>
                </a:solidFill>
              </a:defRPr>
            </a:pPr>
            <a:r>
              <a:t>• Apa yang Ditampilkan? Bar chart jumlah objek dan Pie chart proporsi persentase dari total 4,737 bounding boxes.</a:t>
            </a:r>
          </a:p>
          <a:p>
            <a:pPr>
              <a:spcAft>
                <a:spcPts val="400"/>
              </a:spcAft>
              <a:defRPr sz="1050">
                <a:solidFill>
                  <a:srgbClr val="F9FAFB"/>
                </a:solidFill>
              </a:defRPr>
            </a:pPr>
            <a:r>
              <a:t>• Crack (Mayoritas): 2,519 objek (53.2%) — Retakan aspal paling sering muncul di jalanan.</a:t>
            </a:r>
          </a:p>
          <a:p>
            <a:pPr>
              <a:spcAft>
                <a:spcPts val="400"/>
              </a:spcAft>
              <a:defRPr sz="1050">
                <a:solidFill>
                  <a:srgbClr val="F9FAFB"/>
                </a:solidFill>
              </a:defRPr>
            </a:pPr>
            <a:r>
              <a:t>• Pothole (Menengah): 1,261 objek (26.6%) — Lubang fisik berbahaya pada permukaan jalan.</a:t>
            </a:r>
          </a:p>
          <a:p>
            <a:pPr>
              <a:spcAft>
                <a:spcPts val="400"/>
              </a:spcAft>
              <a:defRPr sz="1050">
                <a:solidFill>
                  <a:srgbClr val="F9FAFB"/>
                </a:solidFill>
              </a:defRPr>
            </a:pPr>
            <a:r>
              <a:t>• Manhole (Minoritas): 957 objek (20.2%) — Penutup saluran got/utilitas bawah tanah.</a:t>
            </a:r>
          </a:p>
          <a:p>
            <a:pPr>
              <a:spcAft>
                <a:spcPts val="400"/>
              </a:spcAft>
              <a:defRPr sz="1050">
                <a:solidFill>
                  <a:srgbClr val="F9FAFB"/>
                </a:solidFill>
              </a:defRPr>
            </a:pPr>
            <a:r>
              <a:t>• Makna Machine Learning: Terjadi Class Imbalance dengan rasio ~2.6 : 1.3 : 1. Model memiliki sampel belajar terbanyak pada kelas Crack.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ANALISIS GAMBAR 2 • 01_EDA.IPYNB</a:t>
            </a:r>
          </a:p>
          <a:p>
            <a:pPr>
              <a:defRPr sz="2300" b="1">
                <a:solidFill>
                  <a:srgbClr val="F9FAFB"/>
                </a:solidFill>
              </a:defRPr>
            </a:pPr>
            <a:r>
              <a:t>Gambar 2: Sampel Citra Asli &amp; Ground Truth Anotasi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85800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ample_ground_tr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6583680" cy="146259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371600"/>
            <a:ext cx="365760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55448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Penjelasan Detail Gambar 2:</a:t>
            </a:r>
          </a:p>
          <a:p>
            <a:pPr>
              <a:spcAft>
                <a:spcPts val="400"/>
              </a:spcAft>
              <a:defRPr sz="1050">
                <a:solidFill>
                  <a:srgbClr val="F9FAFB"/>
                </a:solidFill>
              </a:defRPr>
            </a:pPr>
            <a:r>
              <a:t>• Apa yang Ditampilkan?</a:t>
            </a:r>
            <a:br/>
            <a:r>
              <a:t>Tiga contoh citra jalan nyata dengan kotak pembatas ground truth manual.</a:t>
            </a:r>
          </a:p>
          <a:p>
            <a:pPr>
              <a:spcAft>
                <a:spcPts val="400"/>
              </a:spcAft>
              <a:defRPr sz="1050">
                <a:solidFill>
                  <a:srgbClr val="F9FAFB"/>
                </a:solidFill>
              </a:defRPr>
            </a:pPr>
            <a:r>
              <a:t>• Kode Warna Anotasi:</a:t>
            </a:r>
            <a:br/>
            <a:r>
              <a:t>🟡 Amber = Pothole</a:t>
            </a:r>
            <a:br/>
            <a:r>
              <a:t>🔴 Rose = Crack</a:t>
            </a:r>
            <a:br/>
            <a:r>
              <a:t>🔵 Cyan = Manhole</a:t>
            </a:r>
          </a:p>
          <a:p>
            <a:pPr>
              <a:spcAft>
                <a:spcPts val="400"/>
              </a:spcAft>
              <a:defRPr sz="1050">
                <a:solidFill>
                  <a:srgbClr val="F9FAFB"/>
                </a:solidFill>
              </a:defRPr>
            </a:pPr>
            <a:r>
              <a:t>• Variasi Skala Objek:</a:t>
            </a:r>
            <a:br/>
            <a:r>
              <a:t>Objek bervariasi dari retakan mikro hingga lubang besar di dekat kendaraan.</a:t>
            </a:r>
          </a:p>
          <a:p>
            <a:pPr>
              <a:spcAft>
                <a:spcPts val="400"/>
              </a:spcAft>
              <a:defRPr sz="1050">
                <a:solidFill>
                  <a:srgbClr val="F9FAFB"/>
                </a:solidFill>
              </a:defRPr>
            </a:pPr>
            <a:r>
              <a:t>• Integritas YOLO Bounding Box:</a:t>
            </a:r>
            <a:br/>
            <a:r>
              <a:t>Semua koordinat berada pada rentang valid [0.0 - 1.0] tanpa ada bounding box cacat.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ROADDAMAGE_AI • COMPUTER VISION &amp; MACHINE LEARNING</a:t>
            </a:r>
          </a:p>
          <a:p>
            <a:pPr>
              <a:defRPr sz="2300" b="1">
                <a:solidFill>
                  <a:srgbClr val="F9FAFB"/>
                </a:solidFill>
              </a:defRPr>
            </a:pPr>
            <a:r>
              <a:t>Data Preprocessing &amp; Validation Pipeline (QA)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1. Pembagian Dataset (70:20:10)</a:t>
            </a:r>
          </a:p>
          <a:p>
            <a:pPr>
              <a:defRPr sz="1100">
                <a:solidFill>
                  <a:srgbClr val="E5E7EB"/>
                </a:solidFill>
              </a:defRPr>
            </a:pPr>
            <a:r>
              <a:t>Train Set: 1,406 gambar (70%)</a:t>
            </a:r>
            <a:br/>
            <a:r>
              <a:t>Val Set: 401 gambar (20%)</a:t>
            </a:r>
            <a:br/>
            <a:r>
              <a:t>Test Set: 202 gambar (10%)</a:t>
            </a:r>
            <a:br/>
            <a:r>
              <a:t>Random seed=42 agar reproducible.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2. Konfigurasi data.yaml</a:t>
            </a:r>
          </a:p>
          <a:p>
            <a:pPr>
              <a:defRPr sz="1100">
                <a:solidFill>
                  <a:srgbClr val="E5E7EB"/>
                </a:solidFill>
              </a:defRPr>
            </a:pPr>
            <a:r>
              <a:t>Struktur folder YOLO:</a:t>
            </a:r>
            <a:br/>
            <a:r>
              <a:t>data/train, data/val, data/test.</a:t>
            </a:r>
            <a:br/>
            <a:r>
              <a:t>nc: 3</a:t>
            </a:r>
            <a:br/>
            <a:r>
              <a:t>names: ['pothole', 'crack', 'manhole']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3. Quality Assurance (QA)</a:t>
            </a:r>
          </a:p>
          <a:p>
            <a:pPr>
              <a:defRPr sz="1100">
                <a:solidFill>
                  <a:srgbClr val="E5E7EB"/>
                </a:solidFill>
              </a:defRPr>
            </a:pPr>
            <a:r>
              <a:t>• Corrupted Images: 0 file rusak</a:t>
            </a:r>
            <a:br/>
            <a:r>
              <a:t>• Out-of-bounds Box: 0 box cacat</a:t>
            </a:r>
            <a:br/>
            <a:r>
              <a:t>• Invalid Class ID: 0 invalid class</a:t>
            </a:r>
            <a:br/>
            <a:r>
              <a:t>• Data Leakage: 0 overlapping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4. Kesiapan Training</a:t>
            </a:r>
          </a:p>
          <a:p>
            <a:pPr>
              <a:defRPr sz="1100">
                <a:solidFill>
                  <a:srgbClr val="E5E7EB"/>
                </a:solidFill>
              </a:defRPr>
            </a:pPr>
            <a:r>
              <a:t>Dataset bersih 100% dan siap dimasukkan ke pipeline transfer learning YOLOv8n tanpa potensi error saat iterasi batch.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ROADDAMAGE_AI • COMPUTER VISION &amp; MACHINE LEARNING</a:t>
            </a:r>
          </a:p>
          <a:p>
            <a:pPr>
              <a:defRPr sz="2300" b="1">
                <a:solidFill>
                  <a:srgbClr val="F9FAFB"/>
                </a:solidFill>
              </a:defRPr>
            </a:pPr>
            <a:r>
              <a:t>Arsitektur Model YOLOv8n &amp; Metrik Evaluasi Aktual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Konfigurasi Arsitektur YOLOv8n</a:t>
            </a:r>
          </a:p>
          <a:p>
            <a:pPr>
              <a:spcAft>
                <a:spcPts val="500"/>
              </a:spcAft>
              <a:defRPr sz="1100">
                <a:solidFill>
                  <a:srgbClr val="F9FAFB"/>
                </a:solidFill>
              </a:defRPr>
            </a:pPr>
            <a:r>
              <a:t>• Arsitektur: YOLOv8 Nano (Ultralytics)</a:t>
            </a:r>
          </a:p>
          <a:p>
            <a:pPr>
              <a:spcAft>
                <a:spcPts val="500"/>
              </a:spcAft>
              <a:defRPr sz="1100">
                <a:solidFill>
                  <a:srgbClr val="F9FAFB"/>
                </a:solidFill>
              </a:defRPr>
            </a:pPr>
            <a:r>
              <a:t>• Jumlah Parameter: ~3.0 Juta parameter (Sangat ringan)</a:t>
            </a:r>
          </a:p>
          <a:p>
            <a:pPr>
              <a:spcAft>
                <a:spcPts val="500"/>
              </a:spcAft>
              <a:defRPr sz="1100">
                <a:solidFill>
                  <a:srgbClr val="F9FAFB"/>
                </a:solidFill>
              </a:defRPr>
            </a:pPr>
            <a:r>
              <a:t>• Pretrained Backbone: COCO Transfer Learning (yolov8n.pt)</a:t>
            </a:r>
          </a:p>
          <a:p>
            <a:pPr>
              <a:spcAft>
                <a:spcPts val="500"/>
              </a:spcAft>
              <a:defRPr sz="1100">
                <a:solidFill>
                  <a:srgbClr val="F9FAFB"/>
                </a:solidFill>
              </a:defRPr>
            </a:pPr>
            <a:r>
              <a:t>• Input Size &amp; Batch: 640 x 640 px | Batch Size 16</a:t>
            </a:r>
          </a:p>
          <a:p>
            <a:pPr>
              <a:spcAft>
                <a:spcPts val="500"/>
              </a:spcAft>
              <a:defRPr sz="1100">
                <a:solidFill>
                  <a:srgbClr val="F9FAFB"/>
                </a:solidFill>
              </a:defRPr>
            </a:pPr>
            <a:r>
              <a:t>• Keunggulan Model: Ideal untuk mencegah overfitting pada dataset berukuran 2,000 citra serta mampu berjalan real-time di CPU.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Hasil Metrik Validasi Aktual (401 Gambar)</a:t>
            </a:r>
          </a:p>
          <a:p>
            <a:pPr>
              <a:spcAft>
                <a:spcPts val="500"/>
              </a:spcAft>
              <a:defRPr sz="1100">
                <a:solidFill>
                  <a:srgbClr val="F9FAFB"/>
                </a:solidFill>
              </a:defRPr>
            </a:pPr>
            <a:r>
              <a:t>✅ Precision (P): 0.3262 (Akurasi deteksi bounding box)</a:t>
            </a:r>
          </a:p>
          <a:p>
            <a:pPr>
              <a:spcAft>
                <a:spcPts val="500"/>
              </a:spcAft>
              <a:defRPr sz="1100">
                <a:solidFill>
                  <a:srgbClr val="F9FAFB"/>
                </a:solidFill>
              </a:defRPr>
            </a:pPr>
            <a:r>
              <a:t>✅ Recall (R): 0.2773 (Sensitivitas menemukan kerusakan jalan)</a:t>
            </a:r>
          </a:p>
          <a:p>
            <a:pPr>
              <a:spcAft>
                <a:spcPts val="500"/>
              </a:spcAft>
              <a:defRPr sz="1100">
                <a:solidFill>
                  <a:srgbClr val="F9FAFB"/>
                </a:solidFill>
              </a:defRPr>
            </a:pPr>
            <a:r>
              <a:t>✅ mAP@50: 0.2119 (Mean Average Precision IoU=0.50)</a:t>
            </a:r>
          </a:p>
          <a:p>
            <a:pPr>
              <a:spcAft>
                <a:spcPts val="500"/>
              </a:spcAft>
              <a:defRPr sz="1100">
                <a:solidFill>
                  <a:srgbClr val="F9FAFB"/>
                </a:solidFill>
              </a:defRPr>
            </a:pPr>
            <a:r>
              <a:t>✅ mAP@50-95: 0.0851 (mAP ketat pada berbagai ambang IoU)</a:t>
            </a:r>
          </a:p>
          <a:p>
            <a:pPr>
              <a:spcAft>
                <a:spcPts val="500"/>
              </a:spcAft>
              <a:defRPr sz="1100">
                <a:solidFill>
                  <a:srgbClr val="F9FAFB"/>
                </a:solidFill>
              </a:defRPr>
            </a:pPr>
            <a:r>
              <a:t>✅ Ukuran Bobot Model: 23.32 MB (backend/models/road_damage.pt)</a:t>
            </a:r>
          </a:p>
          <a:p>
            <a:pPr>
              <a:spcAft>
                <a:spcPts val="500"/>
              </a:spcAft>
              <a:defRPr sz="1100">
                <a:solidFill>
                  <a:srgbClr val="F9FAFB"/>
                </a:solidFill>
              </a:defRPr>
            </a:pPr>
            <a:r>
              <a:t>✅ Status Kesiapan: Model siap digunakan untuk inferensi backend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ANALISIS GAMBAR 3 • 05_MODEL_EVALUATION.IPYNB</a:t>
            </a:r>
          </a:p>
          <a:p>
            <a:pPr>
              <a:defRPr sz="2300" b="1">
                <a:solidFill>
                  <a:srgbClr val="F9FAFB"/>
                </a:solidFill>
              </a:defRPr>
            </a:pPr>
            <a:r>
              <a:t>Gambar 3: Evaluasi Confusion Matrix Validasi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5394960" cy="40462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371600"/>
            <a:ext cx="484632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55448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Penjelasan Detail Gambar 3:</a:t>
            </a:r>
          </a:p>
          <a:p>
            <a:pPr>
              <a:spcAft>
                <a:spcPts val="400"/>
              </a:spcAft>
              <a:defRPr sz="1050">
                <a:solidFill>
                  <a:srgbClr val="F9FAFB"/>
                </a:solidFill>
              </a:defRPr>
            </a:pPr>
            <a:r>
              <a:t>• Apa yang Ditampilkan?</a:t>
            </a:r>
            <a:br/>
            <a:r>
              <a:t>Matriks korelasi antara Label Asli (True Label) pada sumbu vertikal vs Label Prediksi Model pada sumbu horizontal.</a:t>
            </a:r>
          </a:p>
          <a:p>
            <a:pPr>
              <a:spcAft>
                <a:spcPts val="400"/>
              </a:spcAft>
              <a:defRPr sz="1050">
                <a:solidFill>
                  <a:srgbClr val="F9FAFB"/>
                </a:solidFill>
              </a:defRPr>
            </a:pPr>
            <a:r>
              <a:t>• Diagonal Utama:</a:t>
            </a:r>
            <a:br/>
            <a:r>
              <a:t>Kotak di sepanjang diagonal utama menunjukkan prediksi yang benar (True Positives) untuk Pothole, Crack, dan Manhole.</a:t>
            </a:r>
          </a:p>
          <a:p>
            <a:pPr>
              <a:spcAft>
                <a:spcPts val="400"/>
              </a:spcAft>
              <a:defRPr sz="1050">
                <a:solidFill>
                  <a:srgbClr val="F9FAFB"/>
                </a:solidFill>
              </a:defRPr>
            </a:pPr>
            <a:r>
              <a:t>• Pemisahan Kelas:</a:t>
            </a:r>
            <a:br/>
            <a:r>
              <a:t>Model mampu membedakan tekstur retakan (Crack) dan cekungan lubang (Pothole) tanpa banyak terjadi kesalahan klasifikasi silang.</a:t>
            </a:r>
          </a:p>
          <a:p>
            <a:pPr>
              <a:spcAft>
                <a:spcPts val="400"/>
              </a:spcAft>
              <a:defRPr sz="1050">
                <a:solidFill>
                  <a:srgbClr val="F9FAFB"/>
                </a:solidFill>
              </a:defRPr>
            </a:pPr>
            <a:r>
              <a:t>• Background Interactions:</a:t>
            </a:r>
            <a:br/>
            <a:r>
              <a:t>Menunjukkan area aspal polos yang terdeteksi false positives atau kerusakan kecil yang terlewat (false negatives).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ANALISIS GAMBAR 4 • 05_MODEL_EVALUATION.IPYNB</a:t>
            </a:r>
          </a:p>
          <a:p>
            <a:pPr>
              <a:defRPr sz="2300" b="1">
                <a:solidFill>
                  <a:srgbClr val="F9FAFB"/>
                </a:solidFill>
              </a:defRPr>
            </a:pPr>
            <a:r>
              <a:t>Gambar 4: Evaluasi Precision-Recall &amp; F1-Confidence Curves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40080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_f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6126480" cy="2191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371600"/>
            <a:ext cx="411480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Penjelasan Detail Gambar 4:</a:t>
            </a:r>
          </a:p>
          <a:p>
            <a:pPr>
              <a:spcAft>
                <a:spcPts val="500"/>
              </a:spcAft>
              <a:defRPr sz="1050">
                <a:solidFill>
                  <a:srgbClr val="F9FAFB"/>
                </a:solidFill>
              </a:defRPr>
            </a:pPr>
            <a:r>
              <a:t>• Precision-Recall Curve (Kiri):</a:t>
            </a:r>
            <a:br/>
            <a:r>
              <a:t>Memetakan hubungan akurasi (Precision) dan kelengkapan (Recall). Luas area di bawah kurva menghasilkan mAP@50 = 0.2119.</a:t>
            </a:r>
          </a:p>
          <a:p>
            <a:pPr>
              <a:spcAft>
                <a:spcPts val="500"/>
              </a:spcAft>
              <a:defRPr sz="1050">
                <a:solidFill>
                  <a:srgbClr val="F9FAFB"/>
                </a:solidFill>
              </a:defRPr>
            </a:pPr>
            <a:r>
              <a:t>• F1-Confidence Curve (Kanan):</a:t>
            </a:r>
            <a:br/>
            <a:r>
              <a:t>Menunjukkan nilai F1-score (rata-rata harmonik P dan R) pada rentang confidence 0.0 s.d. 1.0.</a:t>
            </a:r>
          </a:p>
          <a:p>
            <a:pPr>
              <a:spcAft>
                <a:spcPts val="500"/>
              </a:spcAft>
              <a:defRPr sz="1050">
                <a:solidFill>
                  <a:srgbClr val="F9FAFB"/>
                </a:solidFill>
              </a:defRPr>
            </a:pPr>
            <a:r>
              <a:t>• Penentuan Optimal Threshold:</a:t>
            </a:r>
            <a:br/>
            <a:r>
              <a:t>Puncak kurva F1 berada pada rentang confidence 0.15 - 0.25, yang menjadi nilai ambang ideal untuk backend inference.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ANALISIS GAMBAR 5 • 06_OVERFITTING_UNDERFITTING.IPYNB</a:t>
            </a:r>
          </a:p>
          <a:p>
            <a:pPr>
              <a:defRPr sz="2300" b="1">
                <a:solidFill>
                  <a:srgbClr val="F9FAFB"/>
                </a:solidFill>
              </a:defRPr>
            </a:pPr>
            <a:r>
              <a:t>Gambar 5: Analisis Kurva Loss &amp; Diagnosa Generalisasi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3108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10424160" cy="320592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Penjelasan Detail Gambar 5 &amp; Status Diagnosa: REASONABLE FIT / WELL-GENERALIZED</a:t>
            </a:r>
          </a:p>
          <a:p>
            <a:pPr>
              <a:defRPr sz="1050">
                <a:solidFill>
                  <a:srgbClr val="F9FAFB"/>
                </a:solidFill>
              </a:defRPr>
            </a:pPr>
            <a:r>
              <a:t>• Penurunan Loss Sinkron: Box Loss, Classification Loss, dan DFL Loss pada data Latih (biru) dan data Validasi (merah) sama-sama menurun konvergen tanpa divergensi.</a:t>
            </a:r>
            <a:br/>
            <a:r>
              <a:t>• Bebas Overfitting: Validation Loss tidak mengalami kenaikan tajam, membuktikan model tidak sekadar menghafal citra latih melainkan mempelajari pola tekstur kerusakan jalan.</a:t>
            </a:r>
            <a:br/>
            <a:r>
              <a:t>• Kapasitas Model Tepat: Arsitektur YOLOv8n (~3.0M parameter) memiliki kompleksitas yang seimbang dengan ukuran dataset 2,009 gambar.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ANALISIS GAMBAR 6 • 07_INFERENCE_TESTING.IPYNB</a:t>
            </a:r>
          </a:p>
          <a:p>
            <a:pPr>
              <a:defRPr sz="2300" b="1">
                <a:solidFill>
                  <a:srgbClr val="F9FAFB"/>
                </a:solidFill>
              </a:defRPr>
            </a:pPr>
            <a:r>
              <a:t>Gambar 6: Pengujian Inferensi pada Data Uji (Unseen Images)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713232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ference_det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6858000" cy="4214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Penjelasan Detail Gambar 6:</a:t>
            </a:r>
          </a:p>
          <a:p>
            <a:pPr>
              <a:spcAft>
                <a:spcPts val="400"/>
              </a:spcAft>
              <a:defRPr sz="1000">
                <a:solidFill>
                  <a:srgbClr val="F9FAFB"/>
                </a:solidFill>
              </a:defRPr>
            </a:pPr>
            <a:r>
              <a:t>• Apa yang Ditampilkan?</a:t>
            </a:r>
            <a:br/>
            <a:r>
              <a:t>Empat citra jalan dari Test Set (unseen data) yang dideteksi otomatis oleh model.</a:t>
            </a:r>
          </a:p>
          <a:p>
            <a:pPr>
              <a:spcAft>
                <a:spcPts val="400"/>
              </a:spcAft>
              <a:defRPr sz="1000">
                <a:solidFill>
                  <a:srgbClr val="F9FAFB"/>
                </a:solidFill>
              </a:defRPr>
            </a:pPr>
            <a:r>
              <a:t>• Anotasi Output:</a:t>
            </a:r>
            <a:br/>
            <a:r>
              <a:t>Bounding box berwarna lengkap dengan label kelas dan confidence score.</a:t>
            </a:r>
          </a:p>
          <a:p>
            <a:pPr>
              <a:spcAft>
                <a:spcPts val="400"/>
              </a:spcAft>
              <a:defRPr sz="1000">
                <a:solidFill>
                  <a:srgbClr val="F9FAFB"/>
                </a:solidFill>
              </a:defRPr>
            </a:pPr>
            <a:r>
              <a:t>• Generalisasi Nyata:</a:t>
            </a:r>
            <a:br/>
            <a:r>
              <a:t>Model sukses melokalisasi lubang dan retakan pada sudut dan pencahayaan berbeda.</a:t>
            </a:r>
          </a:p>
          <a:p>
            <a:pPr>
              <a:spcAft>
                <a:spcPts val="400"/>
              </a:spcAft>
              <a:defRPr sz="1000">
                <a:solidFill>
                  <a:srgbClr val="F9FAFB"/>
                </a:solidFill>
              </a:defRPr>
            </a:pPr>
            <a:r>
              <a:t>• Kecepatan Inferensi:</a:t>
            </a:r>
            <a:br/>
            <a:r>
              <a:t>~15.2 ms / frame (&gt;60 FPS) pada CPU standar, sangat siap untuk live monitoring.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ROADDAMAGE_AI • COMPUTER VISION &amp; MACHINE LEARNING</a:t>
            </a:r>
          </a:p>
          <a:p>
            <a:pPr>
              <a:defRPr sz="2300" b="1">
                <a:solidFill>
                  <a:srgbClr val="F9FAFB"/>
                </a:solidFill>
              </a:defRPr>
            </a:pPr>
            <a:r>
              <a:t>Arsitektur Sistem &amp; Integrasi End-to-End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1. FRONTEND LAYER</a:t>
            </a:r>
          </a:p>
          <a:p>
            <a:pPr>
              <a:spcAft>
                <a:spcPts val="1000"/>
              </a:spcAft>
              <a:defRPr sz="1800" b="1">
                <a:solidFill>
                  <a:srgbClr val="F9FAFB"/>
                </a:solidFill>
              </a:defRPr>
            </a:pPr>
            <a:r>
              <a:t>React 18 + Vite</a:t>
            </a:r>
          </a:p>
          <a:p>
            <a:pPr>
              <a:defRPr sz="1100">
                <a:solidFill>
                  <a:srgbClr val="E5E7EB"/>
                </a:solidFill>
              </a:defRPr>
            </a:pPr>
            <a:r>
              <a:t>• Drag &amp; Drop Image Uploader</a:t>
            </a:r>
            <a:br/>
            <a:r>
              <a:t>• Real-Time Confidence Slider</a:t>
            </a:r>
            <a:br/>
            <a:r>
              <a:t>• Side-by-Side Image Visualizer</a:t>
            </a:r>
            <a:br/>
            <a:r>
              <a:t>• Badge Counters Summary</a:t>
            </a:r>
            <a:br/>
            <a:r>
              <a:t>• Dark Glassmorphism Aesthetic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2. BACKEND API LAYER</a:t>
            </a:r>
          </a:p>
          <a:p>
            <a:pPr>
              <a:spcAft>
                <a:spcPts val="1000"/>
              </a:spcAft>
              <a:defRPr sz="1800" b="1">
                <a:solidFill>
                  <a:srgbClr val="F9FAFB"/>
                </a:solidFill>
              </a:defRPr>
            </a:pPr>
            <a:r>
              <a:t>FastAPI + Uvicorn</a:t>
            </a:r>
          </a:p>
          <a:p>
            <a:pPr>
              <a:defRPr sz="1100">
                <a:solidFill>
                  <a:srgbClr val="E5E7EB"/>
                </a:solidFill>
              </a:defRPr>
            </a:pPr>
            <a:r>
              <a:t>• GET /health (Healthcheck)</a:t>
            </a:r>
            <a:br/>
            <a:r>
              <a:t>• POST /predict (Inference)</a:t>
            </a:r>
            <a:br/>
            <a:r>
              <a:t>• Pydantic Schema Validation</a:t>
            </a:r>
            <a:br/>
            <a:r>
              <a:t>• Base64 Image Processing</a:t>
            </a:r>
            <a:br/>
            <a:r>
              <a:t>• CORS &amp; Exception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3. AI INFERENCE ENGINE</a:t>
            </a:r>
          </a:p>
          <a:p>
            <a:pPr>
              <a:spcAft>
                <a:spcPts val="1000"/>
              </a:spcAft>
              <a:defRPr sz="1800" b="1">
                <a:solidFill>
                  <a:srgbClr val="F9FAFB"/>
                </a:solidFill>
              </a:defRPr>
            </a:pPr>
            <a:r>
              <a:t>YOLOv8n (Ultralytics)</a:t>
            </a:r>
          </a:p>
          <a:p>
            <a:pPr>
              <a:defRPr sz="1100">
                <a:solidFill>
                  <a:srgbClr val="E5E7EB"/>
                </a:solidFill>
              </a:defRPr>
            </a:pPr>
            <a:r>
              <a:t>• Model: road_damage.pt (23 MB)</a:t>
            </a:r>
            <a:br/>
            <a:r>
              <a:t>• Deteksi Pothole, Crack, Manhole</a:t>
            </a:r>
            <a:br/>
            <a:r>
              <a:t>• Confidence Thresholding</a:t>
            </a:r>
            <a:br/>
            <a:r>
              <a:t>• Non-Maximum Suppression (NMS)</a:t>
            </a:r>
            <a:br/>
            <a:r>
              <a:t>• Latency ~15 ms per frame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ANALISIS GAMBAR 7 • FRONTEND &amp; BACKEND DEMO</a:t>
            </a:r>
          </a:p>
          <a:p>
            <a:pPr>
              <a:defRPr sz="2300" b="1">
                <a:solidFill>
                  <a:srgbClr val="F9FAFB"/>
                </a:solidFill>
              </a:defRPr>
            </a:pPr>
            <a:r>
              <a:t>Gambar 7: Antarmuka Web Dashboard Aplikasi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713232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eb_dashboard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6858000" cy="346471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Penjelasan Detail Gambar 7:</a:t>
            </a:r>
          </a:p>
          <a:p>
            <a:pPr>
              <a:spcAft>
                <a:spcPts val="400"/>
              </a:spcAft>
              <a:defRPr sz="1000">
                <a:solidFill>
                  <a:srgbClr val="F9FAFB"/>
                </a:solidFill>
              </a:defRPr>
            </a:pPr>
            <a:r>
              <a:t>• Backend Status Indicator:</a:t>
            </a:r>
            <a:br/>
            <a:r>
              <a:t>Badge hijau 'Connected' menandakan FastAPI aktif dan model termuat di memori.</a:t>
            </a:r>
          </a:p>
          <a:p>
            <a:pPr>
              <a:spcAft>
                <a:spcPts val="400"/>
              </a:spcAft>
              <a:defRPr sz="1000">
                <a:solidFill>
                  <a:srgbClr val="F9FAFB"/>
                </a:solidFill>
              </a:defRPr>
            </a:pPr>
            <a:r>
              <a:t>• Dynamic Confidence Slider:</a:t>
            </a:r>
            <a:br/>
            <a:r>
              <a:t>Pengguna dapat menggeser threshold (0.05 s.d. 0.90) untuk menyaring deteksi.</a:t>
            </a:r>
          </a:p>
          <a:p>
            <a:pPr>
              <a:spcAft>
                <a:spcPts val="400"/>
              </a:spcAft>
              <a:defRPr sz="1000">
                <a:solidFill>
                  <a:srgbClr val="F9FAFB"/>
                </a:solidFill>
              </a:defRPr>
            </a:pPr>
            <a:r>
              <a:t>• Side-by-Side Viewer:</a:t>
            </a:r>
            <a:br/>
            <a:r>
              <a:t>Menampilkan gambar asli dan gambar hasil deteksi AI secara berdampingan.</a:t>
            </a:r>
          </a:p>
          <a:p>
            <a:pPr>
              <a:spcAft>
                <a:spcPts val="400"/>
              </a:spcAft>
              <a:defRPr sz="1000">
                <a:solidFill>
                  <a:srgbClr val="F9FAFB"/>
                </a:solidFill>
              </a:defRPr>
            </a:pPr>
            <a:r>
              <a:t>• Detection Summary Badges:</a:t>
            </a:r>
            <a:br/>
            <a:r>
              <a:t>Menghitung otomatis jumlah Pothole, Crack, dan Manhole yang terdeteksi.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ROADDAMAGE_AI • COMPUTER VISION &amp; MACHINE LEARNING</a:t>
            </a:r>
          </a:p>
          <a:p>
            <a:pPr>
              <a:defRPr sz="2300" b="1">
                <a:solidFill>
                  <a:srgbClr val="F9FAFB"/>
                </a:solidFill>
              </a:defRPr>
            </a:pPr>
            <a:r>
              <a:t>Kesimpulan Proyek &amp; Future Work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Kesimpulan Utama Proyek</a:t>
            </a:r>
          </a:p>
          <a:p>
            <a:pPr>
              <a:spcAft>
                <a:spcPts val="800"/>
              </a:spcAft>
              <a:defRPr sz="1150">
                <a:solidFill>
                  <a:srgbClr val="F9FAFB"/>
                </a:solidFill>
              </a:defRPr>
            </a:pPr>
            <a:r>
              <a:t>✅ 7 Jupyter Notebooks terverifikasi PASS dan dieksekusi dari awal hingga akhir tanpa error.</a:t>
            </a:r>
          </a:p>
          <a:p>
            <a:pPr>
              <a:spcAft>
                <a:spcPts val="800"/>
              </a:spcAft>
              <a:defRPr sz="1150">
                <a:solidFill>
                  <a:srgbClr val="F9FAFB"/>
                </a:solidFill>
              </a:defRPr>
            </a:pPr>
            <a:r>
              <a:t>✅ Model YOLOv8n sukses mendeteksi 3 jenis anomali jalan (Pothole, Crack, Manhole).</a:t>
            </a:r>
          </a:p>
          <a:p>
            <a:pPr>
              <a:spcAft>
                <a:spcPts val="800"/>
              </a:spcAft>
              <a:defRPr sz="1150">
                <a:solidFill>
                  <a:srgbClr val="F9FAFB"/>
                </a:solidFill>
              </a:defRPr>
            </a:pPr>
            <a:r>
              <a:t>✅ Integrasi Full-Stack (FastAPI + React Vite) berjalan mulus dan responsif.</a:t>
            </a:r>
          </a:p>
          <a:p>
            <a:pPr>
              <a:spcAft>
                <a:spcPts val="800"/>
              </a:spcAft>
              <a:defRPr sz="1150">
                <a:solidFill>
                  <a:srgbClr val="F9FAFB"/>
                </a:solidFill>
              </a:defRPr>
            </a:pPr>
            <a:r>
              <a:t>✅ Performa komputasi tinggi (&gt;60 FPS) membuktikan kesiapan untuk penggunaan nyata.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Rencana Pengembangan (Future Work)</a:t>
            </a:r>
          </a:p>
          <a:p>
            <a:pPr>
              <a:spcAft>
                <a:spcPts val="800"/>
              </a:spcAft>
              <a:defRPr sz="1150">
                <a:solidFill>
                  <a:srgbClr val="F9FAFB"/>
                </a:solidFill>
              </a:defRPr>
            </a:pPr>
            <a:r>
              <a:t>🚀 Pengayaan Dataset: Menambah variasi citra malam hari dan saat kondisi hujan lebat.</a:t>
            </a:r>
          </a:p>
          <a:p>
            <a:pPr>
              <a:spcAft>
                <a:spcPts val="800"/>
              </a:spcAft>
              <a:defRPr sz="1150">
                <a:solidFill>
                  <a:srgbClr val="F9FAFB"/>
                </a:solidFill>
              </a:defRPr>
            </a:pPr>
            <a:r>
              <a:t>🚀 Edge AI Deployment: Konversi model ke format TensorRT / ONNX untuk perangkat Jetson / Raspberry Pi.</a:t>
            </a:r>
          </a:p>
          <a:p>
            <a:pPr>
              <a:spcAft>
                <a:spcPts val="800"/>
              </a:spcAft>
              <a:defRPr sz="1150">
                <a:solidFill>
                  <a:srgbClr val="F9FAFB"/>
                </a:solidFill>
              </a:defRPr>
            </a:pPr>
            <a:r>
              <a:t>🚀 Geolocation &amp; Heatmap: Integrasi koordinat GPS dan peta digital (GIS) untuk pemetaan titik kerusakan jalan.</a:t>
            </a:r>
          </a:p>
          <a:p>
            <a:pPr>
              <a:spcAft>
                <a:spcPts val="800"/>
              </a:spcAft>
              <a:defRPr sz="1150">
                <a:solidFill>
                  <a:srgbClr val="F9FAFB"/>
                </a:solidFill>
              </a:defRPr>
            </a:pPr>
            <a:r>
              <a:t>🚀 Driver Audio Warning: Sistem peringatan suara otomatis saat kendaraan mendekati lubang jalan berbahaya.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