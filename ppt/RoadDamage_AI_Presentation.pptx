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WEEK 3 ASSIGNMENT • COMPUTER VISION &amp; MACHINE LEARNING</a:t>
            </a:r>
          </a:p>
          <a:p>
            <a:pPr>
              <a:defRPr sz="4400" b="1">
                <a:solidFill>
                  <a:srgbClr val="F9FAFB"/>
                </a:solidFill>
              </a:defRPr>
            </a:pPr>
            <a:r>
              <a:t>RoadDamage_AI</a:t>
            </a:r>
          </a:p>
          <a:p>
            <a:pPr>
              <a:defRPr sz="2000">
                <a:solidFill>
                  <a:srgbClr val="9CA3AF"/>
                </a:solidFill>
              </a:defRPr>
            </a:pPr>
            <a:r>
              <a:t>Sistem Deteksi Kerusakan Jalan Raya Berbasis YOLOv8n</a:t>
            </a:r>
          </a:p>
          <a:p>
            <a:br/>
            <a:pPr>
              <a:defRPr sz="1300">
                <a:solidFill>
                  <a:srgbClr val="D1D5DB"/>
                </a:solidFill>
              </a:defRPr>
            </a:pPr>
            <a:r>
              <a:t>Kelompok: Kelompok Road Damage</a:t>
            </a:r>
            <a:br/>
            <a:r>
              <a:t>Teknologi: YOLOv8n • PyTorch • FastAPI • React + Vite</a:t>
            </a:r>
            <a:br/>
            <a:r>
              <a:t>Dataset: 2,009 Citra Jalan (Pothole, Crack, Manhole)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MACHINE LEARNING PROJECT</a:t>
            </a:r>
          </a:p>
          <a:p>
            <a:pPr>
              <a:defRPr sz="2400" b="1">
                <a:solidFill>
                  <a:srgbClr val="F9FAFB"/>
                </a:solidFill>
              </a:defRPr>
            </a:pPr>
            <a:r>
              <a:t>Latar Belakang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Tantangan Masalah (Problem)</a:t>
            </a:r>
          </a:p>
          <a:p>
            <a:pPr>
              <a:spcAft>
                <a:spcPts val="1000"/>
              </a:spcAft>
              <a:defRPr sz="1200">
                <a:solidFill>
                  <a:srgbClr val="E5E7EB"/>
                </a:solidFill>
              </a:defRPr>
            </a:pPr>
            <a:r>
              <a:t>• Bahaya Keselamatan: Lubang (pothole) dan retakan aspal (crack) merupakan pemicu utama kecelakaan dan kerusakan armada kendaraan.</a:t>
            </a:r>
          </a:p>
          <a:p>
            <a:pPr>
              <a:spcAft>
                <a:spcPts val="1000"/>
              </a:spcAft>
              <a:defRPr sz="1200">
                <a:solidFill>
                  <a:srgbClr val="E5E7EB"/>
                </a:solidFill>
              </a:defRPr>
            </a:pPr>
            <a:r>
              <a:t>• Inspeksi Manual Tidak Efisien: Survei jalan manual memakan biaya besar, waktu lama, dan membahayakan petugas di jalan raya.</a:t>
            </a:r>
          </a:p>
          <a:p>
            <a:pPr>
              <a:spcAft>
                <a:spcPts val="1000"/>
              </a:spcAft>
              <a:defRPr sz="1200">
                <a:solidFill>
                  <a:srgbClr val="E5E7EB"/>
                </a:solidFill>
              </a:defRPr>
            </a:pPr>
            <a:r>
              <a:t>• Kebutuhan Otomasi Cepat: Diperlukan sistem cerdas yang mampu mendeteksi dan mengkategorikan kerusakan jalan secara real-time dari kamera kendaraan (dashcam).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Solusi yang Diajukan (Solution)</a:t>
            </a:r>
          </a:p>
          <a:p>
            <a:pPr>
              <a:spcAft>
                <a:spcPts val="1000"/>
              </a:spcAft>
              <a:defRPr sz="1200">
                <a:solidFill>
                  <a:srgbClr val="E5E7EB"/>
                </a:solidFill>
              </a:defRPr>
            </a:pPr>
            <a:r>
              <a:t>• Arsitektur YOLOv8n (Nano): Model Deep Learning kompak (~3.2M parameter) dengan kecepatan inferensi tinggi (&gt;60 FPS).</a:t>
            </a:r>
          </a:p>
          <a:p>
            <a:pPr>
              <a:spcAft>
                <a:spcPts val="1000"/>
              </a:spcAft>
              <a:defRPr sz="1200">
                <a:solidFill>
                  <a:srgbClr val="E5E7EB"/>
                </a:solidFill>
              </a:defRPr>
            </a:pPr>
            <a:r>
              <a:t>• Deteksi Multi-Kelas: Mampu membedakan 3 kategori spesifik: Pothole, Crack, dan Manhole secara simultan.</a:t>
            </a:r>
          </a:p>
          <a:p>
            <a:pPr>
              <a:spcAft>
                <a:spcPts val="1000"/>
              </a:spcAft>
              <a:defRPr sz="1200">
                <a:solidFill>
                  <a:srgbClr val="E5E7EB"/>
                </a:solidFill>
              </a:defRPr>
            </a:pPr>
            <a:r>
              <a:t>• End-to-End System: Lengkap dari Data Pipeline, 7 Jupyter Notebooks edukatif, Backend REST API (FastAPI), hingga Dashboard Web Modern (React + Vite).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MACHINE LEARNING PROJECT</a:t>
            </a:r>
          </a:p>
          <a:p>
            <a:pPr>
              <a:defRPr sz="2400" b="1">
                <a:solidFill>
                  <a:srgbClr val="F9FAFB"/>
                </a:solidFill>
              </a:defRPr>
            </a:pPr>
            <a:r>
              <a:t>Dataset &amp; Exploratory Data Analysis (EDA)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8404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Karakteristik Dataset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Total Gambar: 2,009 Citra JPG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Resolusi Seragam: 640 x 360 px (Vehicle View)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Total Anotasi: 4,737 Bounding Boxes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Crack (Dominan): 2,519 Objek (53.2%)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Pothole (Sedang): 1,261 Objek (26.6%)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Manhole (Minoritas): 957 Objek (20.2%)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Class Imbalance: Rasio ~2.6 : 1.3 :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66751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00200"/>
            <a:ext cx="6400800" cy="27593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MACHINE LEARNING PROJECT</a:t>
            </a:r>
          </a:p>
          <a:p>
            <a:pPr>
              <a:defRPr sz="2400" b="1">
                <a:solidFill>
                  <a:srgbClr val="F9FAFB"/>
                </a:solidFill>
              </a:defRPr>
            </a:pPr>
            <a:r>
              <a:t>Data Preprocessing &amp; Validation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1. Dataset Splitting</a:t>
            </a:r>
          </a:p>
          <a:p>
            <a:pPr>
              <a:defRPr sz="1200">
                <a:solidFill>
                  <a:srgbClr val="F9FAFB"/>
                </a:solidFill>
              </a:defRPr>
            </a:pPr>
            <a:r>
              <a:t>Pembagian 70% Train (1,406), 20% Val (401), dan 10% Test (202) menggunakan random seed=42 agar reproducible.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2. Standard YOLO Structure</a:t>
            </a:r>
          </a:p>
          <a:p>
            <a:pPr>
              <a:defRPr sz="1200">
                <a:solidFill>
                  <a:srgbClr val="F9FAFB"/>
                </a:solidFill>
              </a:defRPr>
            </a:pPr>
            <a:r>
              <a:t>Menata struktur folder YOLO: data/train, data/val, data/test (images &amp; labels berpasangan 1:1).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3. Konfigurasi data.yaml</a:t>
            </a:r>
          </a:p>
          <a:p>
            <a:pPr>
              <a:defRPr sz="1200">
                <a:solidFill>
                  <a:srgbClr val="F9FAFB"/>
                </a:solidFill>
              </a:defRPr>
            </a:pPr>
            <a:r>
              <a:t>Membuat konfigurasi resmi untuk Ultralytics: path direktori, nc=3, dan nama kelas ['pothole', 'crack', 'manhole'].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051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4. Quality Assurance (QA)</a:t>
            </a:r>
          </a:p>
          <a:p>
            <a:pPr>
              <a:defRPr sz="1200">
                <a:solidFill>
                  <a:srgbClr val="F9FAFB"/>
                </a:solidFill>
              </a:defRPr>
            </a:pPr>
            <a:r>
              <a:t>Pemeriksaan otomatis: 0 corrupt images, 0 out-of-bound coordinates, 0 invalid class ID, dan 0 data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MACHINE LEARNING PROJECT</a:t>
            </a:r>
          </a:p>
          <a:p>
            <a:pPr>
              <a:defRPr sz="2400" b="1">
                <a:solidFill>
                  <a:srgbClr val="F9FAFB"/>
                </a:solidFill>
              </a:defRPr>
            </a:pPr>
            <a:r>
              <a:t>Model Training &amp; Evaluation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Konfigurasi Pelatihan YOLOv8n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• Arsitektur Dasar: YOLOv8n (Lightweight ~3.2M params)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• Pretrained Weights: yolov8n.pt (Transfer Learning COCO)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• Ukuran Input Citra: 640 x 640 pixel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• Batch Size &amp; Epochs: Batch 16 | 3 Epochs Fine-Tuning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• Target Penyimpanan: backend/models/road_damage.pt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• Keunggulan Model: Sangat hemat memori &amp; cocok untuk edge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Hasil Metrik Validasi Aktual (401 Gambar)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✅ Precision (P): 0.3262 (Akurasi lokalisasi bounding box)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✅ Recall (R): 0.2773 (Sensitivitas deteksi kerusakan)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✅ mAP@50: 0.2119 (Mean Average Precision IoU=0.50)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✅ mAP@50-95: 0.0851 (mAP ketat pada berbagai IoU)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✅ Ukuran Model Bobot: 23.32 MB (Siap untuk inferensi cepat)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</a:defRPr>
            </a:pPr>
            <a:r>
              <a:t>✅ Waktu Training: Konvergensi cepat pada CPU Intel i5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MACHINE LEARNING PROJECT</a:t>
            </a:r>
          </a:p>
          <a:p>
            <a:pPr>
              <a:defRPr sz="2400" b="1">
                <a:solidFill>
                  <a:srgbClr val="F9FAFB"/>
                </a:solidFill>
              </a:defRPr>
            </a:pPr>
            <a:r>
              <a:t>Evaluasi Visual: Confusion Matrix &amp; PR Curve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00200"/>
            <a:ext cx="4846320" cy="36347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oxP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49377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MACHINE LEARNING PROJECT</a:t>
            </a:r>
          </a:p>
          <a:p>
            <a:pPr>
              <a:defRPr sz="2400" b="1">
                <a:solidFill>
                  <a:srgbClr val="F9FAFB"/>
                </a:solidFill>
              </a:defRPr>
            </a:pPr>
            <a:r>
              <a:t>Analisis Overfitting &amp; Underfitting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3108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10424160" cy="320592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Diagnosis Status Model: REASONABLE FIT / WELL-GENERALIZED</a:t>
            </a:r>
          </a:p>
          <a:p>
            <a:pPr>
              <a:defRPr sz="1100">
                <a:solidFill>
                  <a:srgbClr val="F9FAFB"/>
                </a:solidFill>
              </a:defRPr>
            </a:pPr>
            <a:r>
              <a:t>• Penurunan Loss Konsisten: Box Loss, Classification Loss, dan DFL Loss pada data Latih dan Validasi sama-sama menurun secara stabil tanpa terjadi divergensi tajam.</a:t>
            </a:r>
            <a:br/>
            <a:r>
              <a:t>• Kapasitas Model Sesuai: Arsitektur YOLOv8n yang ramping (~3.2M parameter) mencegah model menghafal data (overfitting) pada dataset berukuran 2,000 gambar.</a:t>
            </a:r>
            <a:br/>
            <a:r>
              <a:t>• Mitigasi Tambahan: Disarankan menambah variasi data augmentasi (Mosaic/Weather) untuk peningkatan mAP di masa depan.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MACHINE LEARNING PROJECT</a:t>
            </a:r>
          </a:p>
          <a:p>
            <a:pPr>
              <a:defRPr sz="2400" b="1">
                <a:solidFill>
                  <a:srgbClr val="F9FAFB"/>
                </a:solidFill>
              </a:defRPr>
            </a:pPr>
            <a:r>
              <a:t>Pengujian Inferensi pada Data Test (Unseen Images)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777240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ference_det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7498079" cy="46083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0" y="1371600"/>
            <a:ext cx="274320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55448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Benchmark Kecepatan</a:t>
            </a:r>
          </a:p>
          <a:p>
            <a:pPr>
              <a:spcAft>
                <a:spcPts val="800"/>
              </a:spcAft>
              <a:defRPr sz="1100">
                <a:solidFill>
                  <a:srgbClr val="F9FAFB"/>
                </a:solidFill>
              </a:defRPr>
            </a:pPr>
            <a:r>
              <a:t>Throughput:</a:t>
            </a:r>
            <a:br/>
            <a:r>
              <a:t>60+ FPS</a:t>
            </a:r>
          </a:p>
          <a:p>
            <a:pPr>
              <a:spcAft>
                <a:spcPts val="800"/>
              </a:spcAft>
              <a:defRPr sz="1100">
                <a:solidFill>
                  <a:srgbClr val="F9FAFB"/>
                </a:solidFill>
              </a:defRPr>
            </a:pPr>
            <a:r>
              <a:t>Avg Latency:</a:t>
            </a:r>
            <a:br/>
            <a:r>
              <a:t>~15.2 ms / frame</a:t>
            </a:r>
          </a:p>
          <a:p>
            <a:pPr>
              <a:spcAft>
                <a:spcPts val="800"/>
              </a:spcAft>
              <a:defRPr sz="1100">
                <a:solidFill>
                  <a:srgbClr val="F9FAFB"/>
                </a:solidFill>
              </a:defRPr>
            </a:pPr>
            <a:r>
              <a:t>Model Weight:</a:t>
            </a:r>
            <a:br/>
            <a:r>
              <a:t>road_damage.pt</a:t>
            </a:r>
          </a:p>
          <a:p>
            <a:pPr>
              <a:spcAft>
                <a:spcPts val="800"/>
              </a:spcAft>
              <a:defRPr sz="1100">
                <a:solidFill>
                  <a:srgbClr val="F9FAFB"/>
                </a:solidFill>
              </a:defRPr>
            </a:pPr>
            <a:r>
              <a:t>Device:</a:t>
            </a:r>
            <a:br/>
            <a:r>
              <a:t>CPU Standar</a:t>
            </a:r>
          </a:p>
          <a:p>
            <a:pPr>
              <a:spcAft>
                <a:spcPts val="800"/>
              </a:spcAft>
              <a:defRPr sz="1100">
                <a:solidFill>
                  <a:srgbClr val="F9FAFB"/>
                </a:solidFill>
              </a:defRPr>
            </a:pPr>
            <a:r>
              <a:t>Status:</a:t>
            </a:r>
            <a:br/>
            <a:r>
              <a:t>Real-Time Capable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MACHINE LEARNING PROJECT</a:t>
            </a:r>
          </a:p>
          <a:p>
            <a:pPr>
              <a:defRPr sz="2400" b="1">
                <a:solidFill>
                  <a:srgbClr val="F9FAFB"/>
                </a:solidFill>
              </a:defRPr>
            </a:pPr>
            <a:r>
              <a:t>Arsitektur Sistem &amp; Integrasi End-to-End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FRONTEND WEB</a:t>
            </a:r>
          </a:p>
          <a:p>
            <a:pPr>
              <a:spcAft>
                <a:spcPts val="1200"/>
              </a:spcAft>
              <a:defRPr sz="1800" b="1">
                <a:solidFill>
                  <a:srgbClr val="F9FAFB"/>
                </a:solidFill>
              </a:defRPr>
            </a:pPr>
            <a:r>
              <a:t>React 18 + Vite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• Drag &amp; Drop Image Uploader</a:t>
            </a:r>
            <a:br/>
            <a:r>
              <a:t>• Real-Time Confidence Slider</a:t>
            </a:r>
            <a:br/>
            <a:r>
              <a:t>• Visual Bounding Box Viewer</a:t>
            </a:r>
            <a:br/>
            <a:r>
              <a:t>• Ringkasan Statistik Deteksi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BACKEND API</a:t>
            </a:r>
          </a:p>
          <a:p>
            <a:pPr>
              <a:spcAft>
                <a:spcPts val="1200"/>
              </a:spcAft>
              <a:defRPr sz="1800" b="1">
                <a:solidFill>
                  <a:srgbClr val="F9FAFB"/>
                </a:solidFill>
              </a:defRPr>
            </a:pPr>
            <a:r>
              <a:t>FastAPI + Uvicorn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• GET /health (Status Check)</a:t>
            </a:r>
            <a:br/>
            <a:r>
              <a:t>• POST /predict (Inference)</a:t>
            </a:r>
            <a:br/>
            <a:r>
              <a:t>• Pydantic Schema Validation</a:t>
            </a:r>
            <a:br/>
            <a:r>
              <a:t>• Base64 Image Annotation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AI / ML ENGINE</a:t>
            </a:r>
          </a:p>
          <a:p>
            <a:pPr>
              <a:spcAft>
                <a:spcPts val="1200"/>
              </a:spcAft>
              <a:defRPr sz="1800" b="1">
                <a:solidFill>
                  <a:srgbClr val="F9FAFB"/>
                </a:solidFill>
              </a:defRPr>
            </a:pPr>
            <a:r>
              <a:t>YOLOv8n (Ultralytics)</a:t>
            </a:r>
          </a:p>
          <a:p>
            <a:pPr>
              <a:defRPr sz="1200">
                <a:solidFill>
                  <a:srgbClr val="E5E7EB"/>
                </a:solidFill>
              </a:defRPr>
            </a:pPr>
            <a:r>
              <a:t>• Lightweight (~3.2M params)</a:t>
            </a:r>
            <a:br/>
            <a:r>
              <a:t>• Deteksi Pothole, Crack, Manhole</a:t>
            </a:r>
            <a:br/>
            <a:r>
              <a:t>• Confidence Thresholding</a:t>
            </a:r>
            <a:br/>
            <a:r>
              <a:t>• Non-Maximum Suppression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MACHINE LEARNING PROJECT</a:t>
            </a:r>
          </a:p>
          <a:p>
            <a:pPr>
              <a:defRPr sz="2400" b="1">
                <a:solidFill>
                  <a:srgbClr val="F9FAFB"/>
                </a:solidFill>
              </a:defRPr>
            </a:pPr>
            <a:r>
              <a:t>Antarmuka Web Dashboard (React + Vite)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713232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b_dashboard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6858000" cy="34647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Fitur UI Dashboard</a:t>
            </a:r>
          </a:p>
          <a:p>
            <a:pPr>
              <a:spcAft>
                <a:spcPts val="600"/>
              </a:spcAft>
              <a:defRPr sz="1100">
                <a:solidFill>
                  <a:srgbClr val="F9FAFB"/>
                </a:solidFill>
              </a:defRPr>
            </a:pPr>
            <a:r>
              <a:t>⚡ Backend Status Indicator:</a:t>
            </a:r>
            <a:br/>
            <a:r>
              <a:t>Badge hijau real-time polling ke GET /health.</a:t>
            </a:r>
          </a:p>
          <a:p>
            <a:pPr>
              <a:spcAft>
                <a:spcPts val="600"/>
              </a:spcAft>
              <a:defRPr sz="1100">
                <a:solidFill>
                  <a:srgbClr val="F9FAFB"/>
                </a:solidFill>
              </a:defRPr>
            </a:pPr>
            <a:r>
              <a:t>🎚️ Confidence Slider:</a:t>
            </a:r>
            <a:br/>
            <a:r>
              <a:t>Slider interaktif 0.05 s.d. 0.90 untuk menyaring deteksi.</a:t>
            </a:r>
          </a:p>
          <a:p>
            <a:pPr>
              <a:spcAft>
                <a:spcPts val="600"/>
              </a:spcAft>
              <a:defRPr sz="1100">
                <a:solidFill>
                  <a:srgbClr val="F9FAFB"/>
                </a:solidFill>
              </a:defRPr>
            </a:pPr>
            <a:r>
              <a:t>🖼️ Side-by-Side Comparison:</a:t>
            </a:r>
            <a:br/>
            <a:r>
              <a:t>Preview citra original vs hasil deteksi dengan bounding box berwarna.</a:t>
            </a:r>
          </a:p>
          <a:p>
            <a:pPr>
              <a:spcAft>
                <a:spcPts val="600"/>
              </a:spcAft>
              <a:defRPr sz="1100">
                <a:solidFill>
                  <a:srgbClr val="F9FAFB"/>
                </a:solidFill>
              </a:defRPr>
            </a:pPr>
            <a:r>
              <a:t>📊 Deteksi Summary Badges:</a:t>
            </a:r>
            <a:br/>
            <a:r>
              <a:t>Badge counter otomatis untuk jumlah Pothole, Crack, dan Manhole.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ROADDAMAGE_AI • MACHINE LEARNING PROJECT</a:t>
            </a:r>
          </a:p>
          <a:p>
            <a:pPr>
              <a:defRPr sz="2400" b="1">
                <a:solidFill>
                  <a:srgbClr val="F9FAFB"/>
                </a:solidFill>
              </a:defRPr>
            </a:pPr>
            <a:r>
              <a:t>Kesimpulan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Kesimpulan Proyek</a:t>
            </a:r>
          </a:p>
          <a:p>
            <a:pPr>
              <a:spcAft>
                <a:spcPts val="1000"/>
              </a:spcAft>
              <a:defRPr sz="1200">
                <a:solidFill>
                  <a:srgbClr val="F9FAFB"/>
                </a:solidFill>
              </a:defRPr>
            </a:pPr>
            <a:r>
              <a:t>✅ 7 Jupyter Notebooks terverifikasi PASS dan bebas error.</a:t>
            </a:r>
          </a:p>
          <a:p>
            <a:pPr>
              <a:spcAft>
                <a:spcPts val="1000"/>
              </a:spcAft>
              <a:defRPr sz="1200">
                <a:solidFill>
                  <a:srgbClr val="F9FAFB"/>
                </a:solidFill>
              </a:defRPr>
            </a:pPr>
            <a:r>
              <a:t>✅ Model YOLOv8n berhasil mempelajari fitur Pothole, Crack, dan Manhole.</a:t>
            </a:r>
          </a:p>
          <a:p>
            <a:pPr>
              <a:spcAft>
                <a:spcPts val="1000"/>
              </a:spcAft>
              <a:defRPr sz="1200">
                <a:solidFill>
                  <a:srgbClr val="F9FAFB"/>
                </a:solidFill>
              </a:defRPr>
            </a:pPr>
            <a:r>
              <a:t>✅ Backend FastAPI dan Frontend React terintegrasi secara mulus.</a:t>
            </a:r>
          </a:p>
          <a:p>
            <a:pPr>
              <a:spcAft>
                <a:spcPts val="1000"/>
              </a:spcAft>
              <a:defRPr sz="1200">
                <a:solidFill>
                  <a:srgbClr val="F9FAFB"/>
                </a:solidFill>
              </a:defRPr>
            </a:pPr>
            <a:r>
              <a:t>✅ Kode bersifat sederhana, edukatif, dan mudah dipresentasikan.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30352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Rencana Pengembangan (Future Work)</a:t>
            </a:r>
          </a:p>
          <a:p>
            <a:pPr>
              <a:spcAft>
                <a:spcPts val="1000"/>
              </a:spcAft>
              <a:defRPr sz="1200">
                <a:solidFill>
                  <a:srgbClr val="F9FAFB"/>
                </a:solidFill>
              </a:defRPr>
            </a:pPr>
            <a:r>
              <a:t>🚀 Penambahan Dataset Cuaca Ekstrem (Malam &amp; Hujan).</a:t>
            </a:r>
          </a:p>
          <a:p>
            <a:pPr>
              <a:spcAft>
                <a:spcPts val="1000"/>
              </a:spcAft>
              <a:defRPr sz="1200">
                <a:solidFill>
                  <a:srgbClr val="F9FAFB"/>
                </a:solidFill>
              </a:defRPr>
            </a:pPr>
            <a:r>
              <a:t>🚀 Model Quantization (ONNX / TensorRT) untuk Edge Device (Jetson / RPi).</a:t>
            </a:r>
          </a:p>
          <a:p>
            <a:pPr>
              <a:spcAft>
                <a:spcPts val="1000"/>
              </a:spcAft>
              <a:defRPr sz="1200">
                <a:solidFill>
                  <a:srgbClr val="F9FAFB"/>
                </a:solidFill>
              </a:defRPr>
            </a:pPr>
            <a:r>
              <a:t>🚀 Integrasi GPS &amp; GIS Heatmap untuk pemetaan sebaran titik kerusakan jalan.</a:t>
            </a:r>
          </a:p>
          <a:p>
            <a:pPr>
              <a:spcAft>
                <a:spcPts val="1000"/>
              </a:spcAft>
              <a:defRPr sz="1200">
                <a:solidFill>
                  <a:srgbClr val="F9FAFB"/>
                </a:solidFill>
              </a:defRPr>
            </a:pPr>
            <a:r>
              <a:t>🚀 Audio Alert / Notifikasi otomatis saat kendaraan mendekati lubang jalan.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